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46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dhartha Srivastava" userId="cc63dbabf50070eb" providerId="LiveId" clId="{38768C2D-4CF6-4364-90F3-7B3A735BA78E}"/>
    <pc:docChg chg="modSld sldOrd">
      <pc:chgData name="Siddhartha Srivastava" userId="cc63dbabf50070eb" providerId="LiveId" clId="{38768C2D-4CF6-4364-90F3-7B3A735BA78E}" dt="2026-01-10T18:48:34.099" v="2"/>
      <pc:docMkLst>
        <pc:docMk/>
      </pc:docMkLst>
      <pc:sldChg chg="modSp mod ord">
        <pc:chgData name="Siddhartha Srivastava" userId="cc63dbabf50070eb" providerId="LiveId" clId="{38768C2D-4CF6-4364-90F3-7B3A735BA78E}" dt="2026-01-10T18:48:34.099" v="2"/>
        <pc:sldMkLst>
          <pc:docMk/>
          <pc:sldMk cId="0" sldId="257"/>
        </pc:sldMkLst>
        <pc:spChg chg="mod">
          <ac:chgData name="Siddhartha Srivastava" userId="cc63dbabf50070eb" providerId="LiveId" clId="{38768C2D-4CF6-4364-90F3-7B3A735BA78E}" dt="2026-01-10T15:29:31.279" v="0" actId="1076"/>
          <ac:spMkLst>
            <pc:docMk/>
            <pc:sldMk cId="0" sldId="25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C06F1-5368-4F4E-9123-4CFCB187002F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3BF49-4F98-4382-AE59-49FCCFFE6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57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3BF49-4F98-4382-AE59-49FCCFFE679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379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503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744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299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58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70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38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44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36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179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515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9608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87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3864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769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021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77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97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35690"/>
            <a:ext cx="7772400" cy="1470025"/>
          </a:xfrm>
        </p:spPr>
        <p:txBody>
          <a:bodyPr/>
          <a:lstStyle/>
          <a:p>
            <a:r>
              <a:rPr b="1" dirty="0">
                <a:solidFill>
                  <a:srgbClr val="C1AA69"/>
                </a:solidFill>
                <a:latin typeface="Calibri"/>
              </a:rPr>
              <a:t>Agricultural Knowledge Graph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9474" y="3454338"/>
            <a:ext cx="7407378" cy="2327029"/>
          </a:xfrm>
        </p:spPr>
        <p:txBody>
          <a:bodyPr>
            <a:normAutofit fontScale="92500" lnSpcReduction="10000"/>
          </a:bodyPr>
          <a:lstStyle/>
          <a:p>
            <a:r>
              <a:rPr sz="3200" dirty="0">
                <a:solidFill>
                  <a:srgbClr val="FF0000"/>
                </a:solidFill>
              </a:rPr>
              <a:t>A Semantic Approach to Smart Farming</a:t>
            </a:r>
            <a:endParaRPr lang="en-IN" sz="3200" dirty="0">
              <a:solidFill>
                <a:srgbClr val="FF0000"/>
              </a:solidFill>
            </a:endParaRPr>
          </a:p>
          <a:p>
            <a:endParaRPr lang="en-IN" sz="2400" dirty="0">
              <a:solidFill>
                <a:srgbClr val="FF0000"/>
              </a:solidFill>
            </a:endParaRPr>
          </a:p>
          <a:p>
            <a:r>
              <a:rPr lang="en-IN" sz="2400" dirty="0">
                <a:solidFill>
                  <a:srgbClr val="FF0000"/>
                </a:solidFill>
              </a:rPr>
              <a:t>Siddharth Srivastava | Ulster University</a:t>
            </a:r>
          </a:p>
          <a:p>
            <a:r>
              <a:rPr lang="en-IN" sz="2400" dirty="0">
                <a:solidFill>
                  <a:srgbClr val="FF0000"/>
                </a:solidFill>
              </a:rPr>
              <a:t>Date-04/01/2026</a:t>
            </a:r>
          </a:p>
          <a:p>
            <a:r>
              <a:rPr lang="en-IN" sz="2400" dirty="0">
                <a:solidFill>
                  <a:srgbClr val="FF0000"/>
                </a:solidFill>
              </a:rPr>
              <a:t>Student ID: B00964278</a:t>
            </a:r>
            <a:endParaRPr sz="2400" dirty="0">
              <a:solidFill>
                <a:srgbClr val="FF0000"/>
              </a:solidFill>
            </a:endParaRPr>
          </a:p>
        </p:txBody>
      </p:sp>
      <p:pic>
        <p:nvPicPr>
          <p:cNvPr id="4" name="Picture 3" descr="UU-AHSS-scale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097280" cy="8079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solidFill>
            <a:srgbClr val="0D103A"/>
          </a:solidFill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Ulster University | MSc Artificial Intelligence | Agricultural Knowledge Graph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C1AA69"/>
                </a:solidFill>
                <a:latin typeface="Calibri"/>
              </a:rPr>
              <a:t>Ontology Overview (OntoGraf)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97339"/>
            <a:ext cx="6347714" cy="3880773"/>
          </a:xfrm>
        </p:spPr>
        <p:txBody>
          <a:bodyPr/>
          <a:lstStyle/>
          <a:p>
            <a:r>
              <a:t>Shows the complete Agricultural Knowledge Graph with Crop as the central entity connected to observations, risks, and recommendations.</a:t>
            </a:r>
          </a:p>
        </p:txBody>
      </p:sp>
      <p:pic>
        <p:nvPicPr>
          <p:cNvPr id="4" name="Picture 3" descr="agriculture-ontology (http___example.org_agriculture-ontology)  _ [C__Users_sidds_Downloads_New folder (2)_agriculture_ontology_with_agrovoc_fixed_inputs.owl] 03-01-2026 20_19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3431301"/>
            <a:ext cx="4572000" cy="2359819"/>
          </a:xfrm>
          <a:prstGeom prst="rect">
            <a:avLst/>
          </a:prstGeom>
        </p:spPr>
      </p:pic>
      <p:pic>
        <p:nvPicPr>
          <p:cNvPr id="5" name="Picture 4" descr="UU-AHSS-scale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097280" cy="8079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solidFill>
            <a:srgbClr val="0D103A"/>
          </a:solidFill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Ulster University | MSc Artificial Intelligence | Agricultural Knowledge Graph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C1AA69"/>
                </a:solidFill>
                <a:latin typeface="Calibri"/>
              </a:rPr>
              <a:t>Crop Individuals &amp; Data Population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Illustrates real crop instances populated in the ontology such as rice, cotton, banana, and maize.</a:t>
            </a:r>
          </a:p>
        </p:txBody>
      </p:sp>
      <p:pic>
        <p:nvPicPr>
          <p:cNvPr id="4" name="Picture 3" descr="agriculture-ontology (http___example.org_agriculture-ontology)  _ [C__Users_sidds_Downloads_New folder (2)_agriculture_ontology_with_agrovoc_fixed_inputs.owl] 03-01-2026 20_19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993923"/>
            <a:ext cx="4572000" cy="2359819"/>
          </a:xfrm>
          <a:prstGeom prst="rect">
            <a:avLst/>
          </a:prstGeom>
        </p:spPr>
      </p:pic>
      <p:pic>
        <p:nvPicPr>
          <p:cNvPr id="5" name="Picture 4" descr="UU-AHSS-scale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097280" cy="8079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solidFill>
            <a:srgbClr val="0D103A"/>
          </a:solidFill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Ulster University | MSc Artificial Intelligence | Agricultural Knowledge Graph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C1AA69"/>
                </a:solidFill>
                <a:latin typeface="Calibri"/>
              </a:rPr>
              <a:t>Class Hierarchy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EnvironmentalFactor modeled as a subclass of Observation to support extensibility and reuse.</a:t>
            </a:r>
          </a:p>
        </p:txBody>
      </p:sp>
      <p:pic>
        <p:nvPicPr>
          <p:cNvPr id="4" name="Picture 3" descr="agriculture-ontology (http___example.org_agriculture-ontology)  _ [C__Users_sidds_Downloads_New folder (2)_agriculture_ontology_with_agrovoc_fixed_inputs.owl] 03-01-2026 20_19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251" y="2897981"/>
            <a:ext cx="4572000" cy="2359819"/>
          </a:xfrm>
          <a:prstGeom prst="rect">
            <a:avLst/>
          </a:prstGeom>
        </p:spPr>
      </p:pic>
      <p:pic>
        <p:nvPicPr>
          <p:cNvPr id="5" name="Picture 4" descr="UU-AHSS-scale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097280" cy="8079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solidFill>
            <a:srgbClr val="0D103A"/>
          </a:solidFill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Ulster University | MSc Artificial Intelligence | Agricultural Knowledge Graph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C1AA69"/>
                </a:solidFill>
                <a:latin typeface="Calibri"/>
              </a:rPr>
              <a:t>Rule-Based Reasoning with SWRL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Expert SWRL rules infer drought, heat stress, disease, and waterlogging risks.</a:t>
            </a:r>
          </a:p>
        </p:txBody>
      </p:sp>
      <p:pic>
        <p:nvPicPr>
          <p:cNvPr id="4" name="Picture 3" descr="agriculture-ontology (http___example.org_agriculture-ontology)  _ [C__Users_sidds_Downloads_New folder (2)_agriculture_ontology_with_agrovoc_fixed_inputs.owl] 03-01-2026 20_20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897981"/>
            <a:ext cx="4572000" cy="2359819"/>
          </a:xfrm>
          <a:prstGeom prst="rect">
            <a:avLst/>
          </a:prstGeom>
        </p:spPr>
      </p:pic>
      <p:pic>
        <p:nvPicPr>
          <p:cNvPr id="5" name="Picture 4" descr="UU-AHSS-scale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097280" cy="8079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solidFill>
            <a:srgbClr val="0D103A"/>
          </a:solidFill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Ulster University | MSc Artificial Intelligence | Agricultural Knowledge Graph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C1AA69"/>
                </a:solidFill>
                <a:latin typeface="Calibri"/>
              </a:rPr>
              <a:t>SPARQL Query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SPARQL queries retrieve both asserted environmental data and inferred risks.</a:t>
            </a:r>
          </a:p>
        </p:txBody>
      </p:sp>
      <p:pic>
        <p:nvPicPr>
          <p:cNvPr id="4" name="Picture 3" descr="agriculture-ontology (http___example.org_agriculture-ontology)  _ [C__Users_sidds_Downloads_New folder (2)_agriculture_ontology_with_agrovoc_fixed_inputs.owl] 03-01-2026 20_20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510" y="3052916"/>
            <a:ext cx="4572000" cy="2359819"/>
          </a:xfrm>
          <a:prstGeom prst="rect">
            <a:avLst/>
          </a:prstGeom>
        </p:spPr>
      </p:pic>
      <p:pic>
        <p:nvPicPr>
          <p:cNvPr id="5" name="Picture 4" descr="UU-AHSS-scale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097280" cy="8079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solidFill>
            <a:srgbClr val="0D103A"/>
          </a:solidFill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Ulster University | MSc Artificial Intelligence | Agricultural Knowledge Graph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C1AA69"/>
                </a:solidFill>
                <a:latin typeface="Calibri"/>
              </a:rPr>
              <a:t>Rice Case Study – Inferred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Rice crop individual showing multiple inferred agronomic risks after reasoning.</a:t>
            </a:r>
          </a:p>
        </p:txBody>
      </p:sp>
      <p:pic>
        <p:nvPicPr>
          <p:cNvPr id="4" name="Picture 3" descr="agriculture-ontology (http___example.org_agriculture-ontology)  _ [C__Users_sidds_Downloads_New folder (2)_agriculture_ontology_with_agrovoc_fixed_inputs.owl] 03-01-2026 20_22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897981"/>
            <a:ext cx="4572000" cy="2359819"/>
          </a:xfrm>
          <a:prstGeom prst="rect">
            <a:avLst/>
          </a:prstGeom>
        </p:spPr>
      </p:pic>
      <p:pic>
        <p:nvPicPr>
          <p:cNvPr id="5" name="Picture 4" descr="UU-AHSS-scale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097280" cy="8079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solidFill>
            <a:srgbClr val="0D103A"/>
          </a:solidFill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Ulster University | MSc Artificial Intelligence | Agricultural Knowledge Graph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C1AA69"/>
                </a:solidFill>
                <a:latin typeface="Calibri"/>
              </a:rPr>
              <a:t>Rice Case Study – AGROVOC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Semantic alignment of rice with FAO AGROVOC using skos:exactMatch.</a:t>
            </a:r>
          </a:p>
        </p:txBody>
      </p:sp>
      <p:pic>
        <p:nvPicPr>
          <p:cNvPr id="4" name="Picture 3" descr="agriculture-ontology (http___example.org_agriculture-ontology)  _ [C__Users_sidds_Downloads_New folder (2)_agriculture_ontology_with_agrovoc_fixed_inputs.owl] 03-01-2026 20_22_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180" y="2897981"/>
            <a:ext cx="4572000" cy="2359819"/>
          </a:xfrm>
          <a:prstGeom prst="rect">
            <a:avLst/>
          </a:prstGeom>
        </p:spPr>
      </p:pic>
      <p:pic>
        <p:nvPicPr>
          <p:cNvPr id="5" name="Picture 4" descr="UU-AHSS-scale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097280" cy="8079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solidFill>
            <a:srgbClr val="0D103A"/>
          </a:solidFill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Ulster University | MSc Artificial Intelligence | Agricultural Knowledge Graph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C1AA69"/>
                </a:solidFill>
                <a:latin typeface="Calibri"/>
              </a:rPr>
              <a:t>Rice Case Study – Properties &amp;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Environmental, soil, and farming input data associated with rice.</a:t>
            </a:r>
          </a:p>
        </p:txBody>
      </p:sp>
      <p:pic>
        <p:nvPicPr>
          <p:cNvPr id="4" name="Picture 3" descr="agriculture-ontology (http___example.org_agriculture-ontology)  _ [C__Users_sidds_Downloads_New folder (2)_agriculture_ontology_with_agrovoc_fixed_inputs.owl] 03-01-2026 20_22_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638" y="2816942"/>
            <a:ext cx="4572000" cy="2359819"/>
          </a:xfrm>
          <a:prstGeom prst="rect">
            <a:avLst/>
          </a:prstGeom>
        </p:spPr>
      </p:pic>
      <p:pic>
        <p:nvPicPr>
          <p:cNvPr id="5" name="Picture 4" descr="UU-AHSS-scale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097280" cy="8079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solidFill>
            <a:srgbClr val="0D103A"/>
          </a:solidFill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Ulster University | MSc Artificial Intelligence | Agricultural Knowledge Graph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C1AA69"/>
                </a:solidFill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Semantic integration of heterogeneous agricultural data</a:t>
            </a:r>
          </a:p>
          <a:p>
            <a:r>
              <a:t>• Explainable reasoning using SWRL rules</a:t>
            </a:r>
          </a:p>
          <a:p>
            <a:r>
              <a:t>• Interoperability through AGROVOC alignment</a:t>
            </a:r>
          </a:p>
          <a:p>
            <a:r>
              <a:t>• Strong foundation for smart farming decision support</a:t>
            </a:r>
          </a:p>
        </p:txBody>
      </p:sp>
      <p:pic>
        <p:nvPicPr>
          <p:cNvPr id="4" name="Picture 3" descr="UU-AHSS-scale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82880"/>
            <a:ext cx="1097280" cy="8079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217920"/>
            <a:ext cx="9144000" cy="365760"/>
          </a:xfrm>
          <a:prstGeom prst="rect">
            <a:avLst/>
          </a:prstGeom>
          <a:solidFill>
            <a:srgbClr val="0D103A"/>
          </a:solidFill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Ulster University | MSc Artificial Intelligence | Agricultural Knowledge 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273</TotalTime>
  <Words>301</Words>
  <Application>Microsoft Office PowerPoint</Application>
  <PresentationFormat>On-screen Show (4:3)</PresentationFormat>
  <Paragraphs>38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Trebuchet MS</vt:lpstr>
      <vt:lpstr>Wingdings 3</vt:lpstr>
      <vt:lpstr>Facet</vt:lpstr>
      <vt:lpstr>Agricultural Knowledge Graph</vt:lpstr>
      <vt:lpstr>Ontology Overview (OntoGraf)</vt:lpstr>
      <vt:lpstr>Crop Individuals &amp; Data Population</vt:lpstr>
      <vt:lpstr>Class Hierarchy Design</vt:lpstr>
      <vt:lpstr>Rule-Based Reasoning with SWRL</vt:lpstr>
      <vt:lpstr>SPARQL Query &amp; Results</vt:lpstr>
      <vt:lpstr>Rice Case Study – Inferred Risks</vt:lpstr>
      <vt:lpstr>Rice Case Study – AGROVOC Alignment</vt:lpstr>
      <vt:lpstr>Rice Case Study – Properties &amp; Data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Siddhartha Srivastava</cp:lastModifiedBy>
  <cp:revision>3</cp:revision>
  <dcterms:created xsi:type="dcterms:W3CDTF">2013-01-27T09:14:16Z</dcterms:created>
  <dcterms:modified xsi:type="dcterms:W3CDTF">2026-01-10T18:58:33Z</dcterms:modified>
  <cp:category/>
</cp:coreProperties>
</file>